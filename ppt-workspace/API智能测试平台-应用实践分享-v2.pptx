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74652" y="1289149"/>
            <a:ext cx="5194548" cy="2111276"/>
          </a:xfrm>
          <a:prstGeom prst="roundRect">
            <a:avLst>
              <a:gd name="adj" fmla="val 7218"/>
            </a:avLst>
          </a:prstGeom>
          <a:solidFill>
            <a:srgbClr val="FFFFFF">
              <a:alpha val="15000"/>
            </a:srgbClr>
          </a:solidFill>
          <a:ln w="19050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719377" y="1689199"/>
            <a:ext cx="3705097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智能测试平台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794763" y="2400300"/>
            <a:ext cx="1554176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800"/>
              </a:spcAft>
              <a:buNone/>
            </a:pPr>
            <a:r>
              <a:rPr lang="en-US" sz="20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应用实践分享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90851" y="2962275"/>
            <a:ext cx="762000" cy="38100"/>
          </a:xfrm>
          <a:prstGeom prst="roundRect">
            <a:avLst>
              <a:gd name="adj" fmla="val 66667"/>
            </a:avLst>
          </a:prstGeom>
          <a:solidFill>
            <a:srgbClr val="0EA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932602" y="3654326"/>
            <a:ext cx="127849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0"/>
              </a:spcBef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2025年度技术分享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149102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53901"/>
            <a:ext cx="8394192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目录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42801"/>
            <a:ext cx="83941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34901" y="1403003"/>
            <a:ext cx="457200" cy="457200"/>
          </a:xfrm>
          <a:prstGeom prst="roundRect">
            <a:avLst>
              <a:gd name="adj" fmla="val 22222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48131" y="1512540"/>
            <a:ext cx="23059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44501" y="1507778"/>
            <a:ext cx="186780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API自动化测试的痛点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34901" y="1987153"/>
            <a:ext cx="457200" cy="457200"/>
          </a:xfrm>
          <a:prstGeom prst="roundRect">
            <a:avLst>
              <a:gd name="adj" fmla="val 22222"/>
            </a:avLst>
          </a:prstGeom>
          <a:solidFill>
            <a:srgbClr val="0EA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48131" y="2096691"/>
            <a:ext cx="23059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44501" y="2091928"/>
            <a:ext cx="206211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API智能测试平台的价值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34901" y="2571304"/>
            <a:ext cx="457200" cy="457200"/>
          </a:xfrm>
          <a:prstGeom prst="roundRect">
            <a:avLst>
              <a:gd name="adj" fmla="val 22222"/>
            </a:avLst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48131" y="2680841"/>
            <a:ext cx="23059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44501" y="2676079"/>
            <a:ext cx="77724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技术架构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34901" y="3155454"/>
            <a:ext cx="457200" cy="457200"/>
          </a:xfrm>
          <a:prstGeom prst="roundRect">
            <a:avLst>
              <a:gd name="adj" fmla="val 22222"/>
            </a:avLst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48131" y="3264991"/>
            <a:ext cx="23059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44501" y="3260229"/>
            <a:ext cx="116586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主要功能介绍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4901" y="3739604"/>
            <a:ext cx="457200" cy="457200"/>
          </a:xfrm>
          <a:prstGeom prst="roundRect">
            <a:avLst>
              <a:gd name="adj" fmla="val 22222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48131" y="3849142"/>
            <a:ext cx="23059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44501" y="3844379"/>
            <a:ext cx="77724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应用实践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34901" y="4323755"/>
            <a:ext cx="457200" cy="457200"/>
          </a:xfrm>
          <a:prstGeom prst="roundRect">
            <a:avLst>
              <a:gd name="adj" fmla="val 22222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48131" y="4433292"/>
            <a:ext cx="23059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44501" y="4428530"/>
            <a:ext cx="38862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成效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604052" y="4908649"/>
            <a:ext cx="2917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88802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03150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0EA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56008" y="298400"/>
            <a:ext cx="25943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66800" y="246013"/>
            <a:ext cx="27548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API自动化测试的痛点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90824" y="1117402"/>
            <a:ext cx="2892326" cy="701427"/>
          </a:xfrm>
          <a:prstGeom prst="roundRect">
            <a:avLst>
              <a:gd name="adj" fmla="val 10864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1614636" y="1117402"/>
            <a:ext cx="0" cy="701427"/>
          </a:xfrm>
          <a:prstGeom prst="line">
            <a:avLst/>
          </a:prstGeom>
          <a:noFill/>
          <a:ln w="47625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90849" y="1244352"/>
            <a:ext cx="259069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接口信息分散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790849" y="1514177"/>
            <a:ext cx="2590699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API文档散落各处,缺乏统一管理和维护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660850" y="1117402"/>
            <a:ext cx="2892326" cy="701427"/>
          </a:xfrm>
          <a:prstGeom prst="roundRect">
            <a:avLst>
              <a:gd name="adj" fmla="val 10864"/>
            </a:avLst>
          </a:prstGeom>
          <a:solidFill>
            <a:srgbClr val="FFF7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684663" y="1117402"/>
            <a:ext cx="0" cy="701427"/>
          </a:xfrm>
          <a:prstGeom prst="line">
            <a:avLst/>
          </a:prstGeom>
          <a:noFill/>
          <a:ln w="47625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60875" y="1244352"/>
            <a:ext cx="259069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用例编写效率低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60875" y="1514177"/>
            <a:ext cx="2590699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手工编写测试用例耗时且容易遗漏边界场景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590824" y="1996529"/>
            <a:ext cx="2892326" cy="701427"/>
          </a:xfrm>
          <a:prstGeom prst="roundRect">
            <a:avLst>
              <a:gd name="adj" fmla="val 10864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1614636" y="1996529"/>
            <a:ext cx="0" cy="701427"/>
          </a:xfrm>
          <a:prstGeom prst="line">
            <a:avLst/>
          </a:prstGeom>
          <a:noFill/>
          <a:ln w="47625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90849" y="2123480"/>
            <a:ext cx="259069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测试维护成本高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790849" y="2393305"/>
            <a:ext cx="2590699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接口变更导致大量用例需要同步更新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60850" y="1996529"/>
            <a:ext cx="2892326" cy="701427"/>
          </a:xfrm>
          <a:prstGeom prst="roundRect">
            <a:avLst>
              <a:gd name="adj" fmla="val 10864"/>
            </a:avLst>
          </a:prstGeom>
          <a:solidFill>
            <a:srgbClr val="FFF7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684663" y="1996529"/>
            <a:ext cx="0" cy="701427"/>
          </a:xfrm>
          <a:prstGeom prst="line">
            <a:avLst/>
          </a:prstGeom>
          <a:noFill/>
          <a:ln w="47625">
            <a:solidFill>
              <a:srgbClr val="F973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60875" y="2123480"/>
            <a:ext cx="259069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缺乏智能化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60875" y="2393305"/>
            <a:ext cx="2590699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传统工具无法自动分析和生成测试策略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590824" y="2875657"/>
            <a:ext cx="2892326" cy="701427"/>
          </a:xfrm>
          <a:prstGeom prst="roundRect">
            <a:avLst>
              <a:gd name="adj" fmla="val 10864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1614636" y="2875657"/>
            <a:ext cx="0" cy="701427"/>
          </a:xfrm>
          <a:prstGeom prst="line">
            <a:avLst/>
          </a:prstGeom>
          <a:noFill/>
          <a:ln w="47625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790849" y="3002607"/>
            <a:ext cx="259069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团队协作困难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790849" y="3272433"/>
            <a:ext cx="2590699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测试资产难以在团队间共享和复用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660850" y="2875657"/>
            <a:ext cx="2892326" cy="701427"/>
          </a:xfrm>
          <a:prstGeom prst="roundRect">
            <a:avLst>
              <a:gd name="adj" fmla="val 10864"/>
            </a:avLst>
          </a:prstGeom>
          <a:solidFill>
            <a:srgbClr val="FFF7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4684663" y="2875657"/>
            <a:ext cx="0" cy="701427"/>
          </a:xfrm>
          <a:prstGeom prst="line">
            <a:avLst/>
          </a:prstGeom>
          <a:noFill/>
          <a:ln w="47625">
            <a:solidFill>
              <a:srgbClr val="F9731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60875" y="3002607"/>
            <a:ext cx="259069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执行监控不足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60875" y="3272433"/>
            <a:ext cx="2590699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缺乏实时执行状态跟踪和质量度量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604052" y="4908649"/>
            <a:ext cx="2917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88802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03150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0EA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56008" y="298400"/>
            <a:ext cx="25943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66800" y="246013"/>
            <a:ext cx="3039737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API智能测试平台的价值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632198" y="1142702"/>
            <a:ext cx="2850952" cy="1072753"/>
          </a:xfrm>
          <a:prstGeom prst="roundRect">
            <a:avLst>
              <a:gd name="adj" fmla="val 947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1632198" y="1161752"/>
            <a:ext cx="2850952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78387" y="1142702"/>
            <a:ext cx="0" cy="1072753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32198" y="2210693"/>
            <a:ext cx="285095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36961" y="1142702"/>
            <a:ext cx="0" cy="1072753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19424" y="1358503"/>
            <a:ext cx="252603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AI驱动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819424" y="1672828"/>
            <a:ext cx="2526030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利用大模型智能生成测试用例,降低人工编写成本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60850" y="1142702"/>
            <a:ext cx="2850952" cy="1072753"/>
          </a:xfrm>
          <a:prstGeom prst="roundRect">
            <a:avLst>
              <a:gd name="adj" fmla="val 947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660850" y="1161752"/>
            <a:ext cx="2850952" cy="0"/>
          </a:xfrm>
          <a:prstGeom prst="line">
            <a:avLst/>
          </a:prstGeom>
          <a:noFill/>
          <a:ln w="38100">
            <a:solidFill>
              <a:srgbClr val="0D94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507039" y="1142702"/>
            <a:ext cx="0" cy="1072753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0850" y="2210693"/>
            <a:ext cx="285095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5613" y="1142702"/>
            <a:ext cx="0" cy="1072753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8076" y="1358503"/>
            <a:ext cx="252603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全流程覆盖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48076" y="1672828"/>
            <a:ext cx="2526030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从API采集到测试报告的完整闭环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632198" y="2393156"/>
            <a:ext cx="2850952" cy="895052"/>
          </a:xfrm>
          <a:prstGeom prst="roundRect">
            <a:avLst>
              <a:gd name="adj" fmla="val 1135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1632198" y="2412206"/>
            <a:ext cx="2850952" cy="0"/>
          </a:xfrm>
          <a:prstGeom prst="line">
            <a:avLst/>
          </a:prstGeom>
          <a:noFill/>
          <a:ln w="38100">
            <a:solidFill>
              <a:srgbClr val="0EA5E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78387" y="2393156"/>
            <a:ext cx="0" cy="895052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32198" y="3283446"/>
            <a:ext cx="285095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36961" y="2393156"/>
            <a:ext cx="0" cy="895052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819424" y="2608957"/>
            <a:ext cx="252603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可视化编排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819424" y="2923282"/>
            <a:ext cx="2526030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拖拽式用例编排,降低使用门槛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660850" y="2393156"/>
            <a:ext cx="2850952" cy="895052"/>
          </a:xfrm>
          <a:prstGeom prst="roundRect">
            <a:avLst>
              <a:gd name="adj" fmla="val 1135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4660850" y="2412206"/>
            <a:ext cx="2850952" cy="0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07039" y="2393156"/>
            <a:ext cx="0" cy="895052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60850" y="3283446"/>
            <a:ext cx="285095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65613" y="2393156"/>
            <a:ext cx="0" cy="895052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8076" y="2608957"/>
            <a:ext cx="252603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统一管理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848076" y="2923282"/>
            <a:ext cx="2526030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四层分类体系,规范化API资产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632198" y="3465909"/>
            <a:ext cx="2850952" cy="895052"/>
          </a:xfrm>
          <a:prstGeom prst="roundRect">
            <a:avLst>
              <a:gd name="adj" fmla="val 1135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1632198" y="3484959"/>
            <a:ext cx="2850952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478387" y="3465909"/>
            <a:ext cx="0" cy="895052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632198" y="4356199"/>
            <a:ext cx="285095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636961" y="3465909"/>
            <a:ext cx="0" cy="895052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819424" y="3681710"/>
            <a:ext cx="252603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高效协作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819424" y="3996035"/>
            <a:ext cx="2526030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多用户支持,测试资产共享复用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660850" y="3465909"/>
            <a:ext cx="2850952" cy="895052"/>
          </a:xfrm>
          <a:prstGeom prst="roundRect">
            <a:avLst>
              <a:gd name="adj" fmla="val 1135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Shape 40"/>
          <p:cNvSpPr/>
          <p:nvPr/>
        </p:nvSpPr>
        <p:spPr>
          <a:xfrm>
            <a:off x="4660850" y="3484959"/>
            <a:ext cx="2850952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507039" y="3465909"/>
            <a:ext cx="0" cy="895052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660850" y="4356199"/>
            <a:ext cx="285095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665613" y="3465909"/>
            <a:ext cx="0" cy="895052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48076" y="3681710"/>
            <a:ext cx="252603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实时监控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4848076" y="3996035"/>
            <a:ext cx="2526030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SSE实时推送执行日志,全程可观测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604052" y="4908649"/>
            <a:ext cx="2917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88802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03150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0EA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56008" y="298400"/>
            <a:ext cx="25943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66800" y="246013"/>
            <a:ext cx="113990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技术架构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57324" y="1117402"/>
            <a:ext cx="1777901" cy="453926"/>
          </a:xfrm>
          <a:prstGeom prst="roundRect">
            <a:avLst>
              <a:gd name="adj" fmla="val 16787"/>
            </a:avLst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57654" y="1244352"/>
            <a:ext cx="7772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前端展示层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035225" y="1136452"/>
            <a:ext cx="6851452" cy="415826"/>
          </a:xfrm>
          <a:prstGeom prst="rect">
            <a:avLst/>
          </a:prstGeom>
          <a:solidFill>
            <a:srgbClr val="DBEAFE"/>
          </a:solidFill>
          <a:ln w="9525">
            <a:solidFill>
              <a:srgbClr val="2563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222450" y="1272927"/>
            <a:ext cx="66065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16 + React 19 + Tailwind CSS + Radix UI + React Flow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7324" y="1698278"/>
            <a:ext cx="1777901" cy="453926"/>
          </a:xfrm>
          <a:prstGeom prst="roundRect">
            <a:avLst>
              <a:gd name="adj" fmla="val 16787"/>
            </a:avLst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57654" y="1825228"/>
            <a:ext cx="7772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业务逻辑层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035225" y="1717328"/>
            <a:ext cx="6851452" cy="415826"/>
          </a:xfrm>
          <a:prstGeom prst="rect">
            <a:avLst/>
          </a:prstGeom>
          <a:solidFill>
            <a:srgbClr val="CCFBF1"/>
          </a:solidFill>
          <a:ln w="9525">
            <a:solidFill>
              <a:srgbClr val="0D948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222450" y="1853803"/>
            <a:ext cx="66065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API Routes + next-intl + TanStack Query + Zod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7324" y="2279154"/>
            <a:ext cx="1777901" cy="453926"/>
          </a:xfrm>
          <a:prstGeom prst="roundRect">
            <a:avLst>
              <a:gd name="adj" fmla="val 16787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13672" y="2406104"/>
            <a:ext cx="6650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引擎层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035225" y="2298204"/>
            <a:ext cx="6851452" cy="415826"/>
          </a:xfrm>
          <a:prstGeom prst="rect">
            <a:avLst/>
          </a:prstGeom>
          <a:solidFill>
            <a:srgbClr val="FEF3C7"/>
          </a:solidFill>
          <a:ln w="9525"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222450" y="2434679"/>
            <a:ext cx="66065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/ DeepSeek / Claude / Ollama + Function Calling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57324" y="2860030"/>
            <a:ext cx="1777901" cy="453926"/>
          </a:xfrm>
          <a:prstGeom prst="roundRect">
            <a:avLst>
              <a:gd name="adj" fmla="val 16787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57654" y="2986980"/>
            <a:ext cx="7772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测试执行层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035225" y="2869555"/>
            <a:ext cx="6851452" cy="434876"/>
          </a:xfrm>
          <a:prstGeom prst="rect">
            <a:avLst/>
          </a:prstGeom>
          <a:solidFill>
            <a:srgbClr val="FFEDD5"/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222450" y="3006030"/>
            <a:ext cx="660654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FastAPI + 变量管理 + 定时调度 + 套件执行器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57324" y="3440906"/>
            <a:ext cx="1777901" cy="453926"/>
          </a:xfrm>
          <a:prstGeom prst="roundRect">
            <a:avLst>
              <a:gd name="adj" fmla="val 16787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57654" y="3567857"/>
            <a:ext cx="7772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数据存储层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035225" y="3450431"/>
            <a:ext cx="6851452" cy="434876"/>
          </a:xfrm>
          <a:prstGeom prst="rect">
            <a:avLst/>
          </a:prstGeom>
          <a:solidFill>
            <a:srgbClr val="D1FAE5"/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2222450" y="3586907"/>
            <a:ext cx="660654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+ Prisma ORM + 15+ 数据模型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604052" y="4908649"/>
            <a:ext cx="2917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90451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03150"/>
            <a:ext cx="839419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主要功能介绍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15826"/>
            <a:ext cx="839419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采集 - 多模式接口录制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33400" y="1244352"/>
            <a:ext cx="63401" cy="422077"/>
          </a:xfrm>
          <a:prstGeom prst="roundRect">
            <a:avLst>
              <a:gd name="adj" fmla="val 60094"/>
            </a:avLst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23751" y="1244352"/>
            <a:ext cx="803137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浏览器录制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23751" y="1501527"/>
            <a:ext cx="8031379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 Playwright Chromium 内核,启动浏览器实时捕获API请求,支持暂停/恢复/SSE流式推送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33400" y="1818829"/>
            <a:ext cx="63401" cy="422077"/>
          </a:xfrm>
          <a:prstGeom prst="roundRect">
            <a:avLst>
              <a:gd name="adj" fmla="val 60094"/>
            </a:avLst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23751" y="1818829"/>
            <a:ext cx="803137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代理录制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23751" y="2076004"/>
            <a:ext cx="8031379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HTTP代理模式,配置代理地址后自动捕获经过代理的所有API请求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33400" y="2393305"/>
            <a:ext cx="63401" cy="422077"/>
          </a:xfrm>
          <a:prstGeom prst="roundRect">
            <a:avLst>
              <a:gd name="adj" fmla="val 60094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23751" y="2393305"/>
            <a:ext cx="803137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Mitmproxy录制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23751" y="2650480"/>
            <a:ext cx="8031379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中间人代理方式,支持 HTTPS 解密和录制,适用于移动端测试场景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33400" y="2967782"/>
            <a:ext cx="63401" cy="422077"/>
          </a:xfrm>
          <a:prstGeom prst="roundRect">
            <a:avLst>
              <a:gd name="adj" fmla="val 60094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23751" y="2967782"/>
            <a:ext cx="803137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HAR文件导入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23751" y="3224957"/>
            <a:ext cx="8031379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支持从浏览器开发者工具导出的 HAR 文件批量导入,自动解析和路径参数化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33400" y="3542258"/>
            <a:ext cx="8077200" cy="466725"/>
          </a:xfrm>
          <a:prstGeom prst="roundRect">
            <a:avLst>
              <a:gd name="adj" fmla="val 21769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36550" y="3694658"/>
            <a:ext cx="782431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核心能力:</a:t>
            </a:r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智能去重检测 | Header过滤配置 | 路径参数自动识别 | 批量保存至API仓库 | 冲突解决策略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604052" y="4908649"/>
            <a:ext cx="2917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90451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03150"/>
            <a:ext cx="839419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主要功能介绍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15826"/>
            <a:ext cx="839419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仓库 - 四层分类管理体系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193602"/>
            <a:ext cx="38862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四层分类架构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584127"/>
            <a:ext cx="3810000" cy="631627"/>
          </a:xfrm>
          <a:prstGeom prst="roundRect">
            <a:avLst>
              <a:gd name="adj" fmla="val 8043"/>
            </a:avLst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81012" y="1584127"/>
            <a:ext cx="0" cy="631627"/>
          </a:xfrm>
          <a:prstGeom prst="line">
            <a:avLst/>
          </a:prstGeom>
          <a:noFill/>
          <a:ln w="47625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7225" y="1711077"/>
            <a:ext cx="352672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L1 - 平台 (Platform)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7225" y="1936403"/>
            <a:ext cx="352672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业务系统级别划分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60350" y="2317254"/>
            <a:ext cx="3606850" cy="631627"/>
          </a:xfrm>
          <a:prstGeom prst="roundRect">
            <a:avLst>
              <a:gd name="adj" fmla="val 8043"/>
            </a:avLst>
          </a:prstGeom>
          <a:solidFill>
            <a:srgbClr val="CCFB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684163" y="2317254"/>
            <a:ext cx="0" cy="631627"/>
          </a:xfrm>
          <a:prstGeom prst="line">
            <a:avLst/>
          </a:prstGeom>
          <a:noFill/>
          <a:ln w="47625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0375" y="2444204"/>
            <a:ext cx="33195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L2 - 组件 (Component)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0375" y="2669530"/>
            <a:ext cx="331951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服务/模块级别划分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63501" y="3050381"/>
            <a:ext cx="3403699" cy="631627"/>
          </a:xfrm>
          <a:prstGeom prst="roundRect">
            <a:avLst>
              <a:gd name="adj" fmla="val 8043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887313" y="3050381"/>
            <a:ext cx="0" cy="631627"/>
          </a:xfrm>
          <a:prstGeom prst="line">
            <a:avLst/>
          </a:prstGeom>
          <a:noFill/>
          <a:ln w="47625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3526" y="3177332"/>
            <a:ext cx="31123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L3 - 功能 (Feature)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63526" y="3402657"/>
            <a:ext cx="3112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功能模块级别划分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66800" y="3783509"/>
            <a:ext cx="3200400" cy="631627"/>
          </a:xfrm>
          <a:prstGeom prst="roundRect">
            <a:avLst>
              <a:gd name="adj" fmla="val 8043"/>
            </a:avLst>
          </a:prstGeom>
          <a:solidFill>
            <a:srgbClr val="FFED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1090613" y="3783509"/>
            <a:ext cx="0" cy="631627"/>
          </a:xfrm>
          <a:prstGeom prst="line">
            <a:avLst/>
          </a:prstGeom>
          <a:noFill/>
          <a:ln w="47625">
            <a:solidFill>
              <a:srgbClr val="F973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66825" y="3910459"/>
            <a:ext cx="29049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L4 - 子功能 (SubFeature)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266825" y="4135785"/>
            <a:ext cx="290493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API级别精细分类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470350" y="1193602"/>
            <a:ext cx="427482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核心能力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470350" y="1584127"/>
            <a:ext cx="4191000" cy="622102"/>
          </a:xfrm>
          <a:prstGeom prst="roundRect">
            <a:avLst>
              <a:gd name="adj" fmla="val 12249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622750" y="1711077"/>
            <a:ext cx="396392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树形浏览导航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622750" y="1926878"/>
            <a:ext cx="396392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直观的分类树,快速定位目标API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470350" y="2307729"/>
            <a:ext cx="4191000" cy="603052"/>
          </a:xfrm>
          <a:prstGeom prst="roundRect">
            <a:avLst>
              <a:gd name="adj" fmla="val 12636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622750" y="2434679"/>
            <a:ext cx="396392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完整API信息管理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622750" y="2650480"/>
            <a:ext cx="39639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Method/URL/Headers/Body/Response/Schema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470350" y="3012281"/>
            <a:ext cx="4191000" cy="622102"/>
          </a:xfrm>
          <a:prstGeom prst="roundRect">
            <a:avLst>
              <a:gd name="adj" fmla="val 12249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622750" y="3139232"/>
            <a:ext cx="396392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标签与搜索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622750" y="3355032"/>
            <a:ext cx="396392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灵活标签分类 + 多维度搜索筛选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470350" y="3735884"/>
            <a:ext cx="4191000" cy="622102"/>
          </a:xfrm>
          <a:prstGeom prst="roundRect">
            <a:avLst>
              <a:gd name="adj" fmla="val 12249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622750" y="3862834"/>
            <a:ext cx="396392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批量操作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622750" y="4078635"/>
            <a:ext cx="396392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批量编辑、分类调整、导入导出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604052" y="4908649"/>
            <a:ext cx="2917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90451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03150"/>
            <a:ext cx="839419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主要功能介绍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15826"/>
            <a:ext cx="839419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智能生成 - 对话式用例生成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193602"/>
            <a:ext cx="3965594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生成流程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539627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79834" y="1618952"/>
            <a:ext cx="865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88802" y="1609427"/>
            <a:ext cx="185171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用户用自然语言描述测试需求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9125" y="1945928"/>
            <a:ext cx="0" cy="101501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23629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0EA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79834" y="2202954"/>
            <a:ext cx="865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88802" y="2193429"/>
            <a:ext cx="207395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通过 Function Calling 搜索API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9125" y="2529929"/>
            <a:ext cx="0" cy="101501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707630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79834" y="2786955"/>
            <a:ext cx="865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8802" y="2777430"/>
            <a:ext cx="179630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获取API详情并分析测试策略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9125" y="3113931"/>
            <a:ext cx="0" cy="101501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291632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79834" y="3370957"/>
            <a:ext cx="865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88802" y="3361432"/>
            <a:ext cx="185171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自动编排测试步骤并生成用例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48188" y="1193602"/>
            <a:ext cx="422138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核心技术特性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48188" y="1539627"/>
            <a:ext cx="4138613" cy="596801"/>
          </a:xfrm>
          <a:prstGeom prst="roundRect">
            <a:avLst>
              <a:gd name="adj" fmla="val 12768"/>
            </a:avLst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700588" y="1653927"/>
            <a:ext cx="391048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多模型支持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00588" y="1869728"/>
            <a:ext cx="391048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/ DeepSeek / Claude / 百度 / 阿里 / 智谱 / Ollama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48188" y="2225278"/>
            <a:ext cx="4138613" cy="577751"/>
          </a:xfrm>
          <a:prstGeom prst="roundRect">
            <a:avLst>
              <a:gd name="adj" fmla="val 13189"/>
            </a:avLst>
          </a:prstGeom>
          <a:solidFill>
            <a:srgbClr val="F0FD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700588" y="2339578"/>
            <a:ext cx="391048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 Calling 工具链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00588" y="2555379"/>
            <a:ext cx="39104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hierarchical_search / get_detail / assemble_test_cases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48188" y="2891879"/>
            <a:ext cx="4138613" cy="596801"/>
          </a:xfrm>
          <a:prstGeom prst="roundRect">
            <a:avLst>
              <a:gd name="adj" fmla="val 12768"/>
            </a:avLst>
          </a:prstGeom>
          <a:solidFill>
            <a:srgbClr val="FFFB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700588" y="3006179"/>
            <a:ext cx="391048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SSE 流式输出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00588" y="3221980"/>
            <a:ext cx="391048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实时展示思考过程、工具调用、生成结果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48188" y="3577530"/>
            <a:ext cx="4138613" cy="596801"/>
          </a:xfrm>
          <a:prstGeom prst="roundRect">
            <a:avLst>
              <a:gd name="adj" fmla="val 12768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700588" y="3691830"/>
            <a:ext cx="391048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对话式会话管理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700588" y="3907631"/>
            <a:ext cx="391048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支持多轮对话、上下文记忆、历史会话管理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604052" y="4908649"/>
            <a:ext cx="2917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90451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03150"/>
            <a:ext cx="839419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主要功能介绍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15826"/>
            <a:ext cx="839419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用例编排 - 可视化流程设计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193602"/>
            <a:ext cx="413212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 React Flow 的可视化画布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558677"/>
            <a:ext cx="4132124" cy="38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14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通过拖拽式操作将不同类型的节点组合为完整的测试流程,支持节点间连线、参数传递和变量提取,大幅降低用例编排的技术门槛。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117080"/>
            <a:ext cx="41321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节点类型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436019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85651" y="2418606"/>
            <a:ext cx="148222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节点</a:t>
            </a:r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流程起始节点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686794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85651" y="2669381"/>
            <a:ext cx="229543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节点</a:t>
            </a:r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调用API接口,支持参数化配置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937570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85651" y="2920157"/>
            <a:ext cx="210340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 节点</a:t>
            </a:r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等待指定时间后继续执行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3188345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85651" y="3170932"/>
            <a:ext cx="217323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Assertion 节点</a:t>
            </a:r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对响应进行断言验证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439120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85651" y="3421707"/>
            <a:ext cx="216610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 节点</a:t>
            </a:r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并行分支执行多个步骤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3689896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85651" y="3672483"/>
            <a:ext cx="143182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节点</a:t>
            </a:r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流程结束节点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62202" y="1193602"/>
            <a:ext cx="400309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编排能力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62202" y="1558677"/>
            <a:ext cx="3924598" cy="622102"/>
          </a:xfrm>
          <a:prstGeom prst="roundRect">
            <a:avLst>
              <a:gd name="adj" fmla="val 12249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914602" y="1685627"/>
            <a:ext cx="369219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参数化配置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14602" y="1901428"/>
            <a:ext cx="369219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Headers / Query / Path / Body 参数灵活配置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62202" y="2282279"/>
            <a:ext cx="3924598" cy="622102"/>
          </a:xfrm>
          <a:prstGeom prst="roundRect">
            <a:avLst>
              <a:gd name="adj" fmla="val 12249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914602" y="2409230"/>
            <a:ext cx="369219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变量提取与传递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14602" y="2625030"/>
            <a:ext cx="369219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从响应中提取变量,供后续步骤引用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62202" y="3005882"/>
            <a:ext cx="3924598" cy="622102"/>
          </a:xfrm>
          <a:prstGeom prst="roundRect">
            <a:avLst>
              <a:gd name="adj" fmla="val 12249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914602" y="3132832"/>
            <a:ext cx="369219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断言验证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14602" y="3348633"/>
            <a:ext cx="369219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状态码 / 响应体 / Header / JSONPath 断言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62202" y="3729484"/>
            <a:ext cx="3924598" cy="622102"/>
          </a:xfrm>
          <a:prstGeom prst="roundRect">
            <a:avLst>
              <a:gd name="adj" fmla="val 12249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914602" y="3856434"/>
            <a:ext cx="369219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优先级管理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14602" y="4072235"/>
            <a:ext cx="369219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P0-P3 四级优先级,灵活管理用例执行策略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540502" y="4908649"/>
            <a:ext cx="3565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90451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03150"/>
            <a:ext cx="839419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主要功能介绍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15826"/>
            <a:ext cx="839419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测试套件与执行监控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193602"/>
            <a:ext cx="409341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测试套件管理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558677"/>
            <a:ext cx="4013150" cy="622102"/>
          </a:xfrm>
          <a:prstGeom prst="roundRect">
            <a:avLst>
              <a:gd name="adj" fmla="val 12249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84150" y="1685627"/>
            <a:ext cx="383443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套件组织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84150" y="1901428"/>
            <a:ext cx="383443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将多个测试用例组织为可执行套件,支持排序和启用/禁用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2282279"/>
            <a:ext cx="4013150" cy="622102"/>
          </a:xfrm>
          <a:prstGeom prst="roundRect">
            <a:avLst>
              <a:gd name="adj" fmla="val 12249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84150" y="2409230"/>
            <a:ext cx="383443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环境配置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4150" y="2625030"/>
            <a:ext cx="383443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BaseURL / 认证Token / Session / 自定义Header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3005882"/>
            <a:ext cx="4013150" cy="622102"/>
          </a:xfrm>
          <a:prstGeom prst="roundRect">
            <a:avLst>
              <a:gd name="adj" fmla="val 12249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84150" y="3132832"/>
            <a:ext cx="383443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定时调度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84150" y="3348633"/>
            <a:ext cx="383443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 Cron 表达式定时执行,实现持续回归测试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73501" y="1193602"/>
            <a:ext cx="409341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执行监控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673501" y="1558677"/>
            <a:ext cx="4013150" cy="622102"/>
          </a:xfrm>
          <a:prstGeom prst="roundRect">
            <a:avLst>
              <a:gd name="adj" fmla="val 12249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692551" y="1558677"/>
            <a:ext cx="0" cy="622102"/>
          </a:xfrm>
          <a:prstGeom prst="line">
            <a:avLst/>
          </a:prstGeom>
          <a:noFill/>
          <a:ln w="38100">
            <a:solidFill>
              <a:srgbClr val="0EA5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38551" y="1685627"/>
            <a:ext cx="379557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实时日志流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38551" y="1901428"/>
            <a:ext cx="37955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SSE 实时推送,逐条展示步骤执行详情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73501" y="2282279"/>
            <a:ext cx="4013150" cy="622102"/>
          </a:xfrm>
          <a:prstGeom prst="roundRect">
            <a:avLst>
              <a:gd name="adj" fmla="val 12249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692551" y="2282279"/>
            <a:ext cx="0" cy="622102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38551" y="2409230"/>
            <a:ext cx="379557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执行控制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38551" y="2625030"/>
            <a:ext cx="37955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启动 / 停止 / 重试,灵活控制执行过程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673501" y="3005882"/>
            <a:ext cx="4013150" cy="622102"/>
          </a:xfrm>
          <a:prstGeom prst="roundRect">
            <a:avLst>
              <a:gd name="adj" fmla="val 12249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692551" y="3005882"/>
            <a:ext cx="0" cy="622102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38551" y="3132832"/>
            <a:ext cx="379557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执行引擎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38551" y="3348633"/>
            <a:ext cx="37955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独立服务,变量管理器 + 调度器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548985" y="4908649"/>
            <a:ext cx="34793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90451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03150"/>
            <a:ext cx="839419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主要功能介绍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15826"/>
            <a:ext cx="839419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测试报告与数据分析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193602"/>
            <a:ext cx="396559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仪表盘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558677"/>
            <a:ext cx="2057251" cy="647402"/>
          </a:xfrm>
          <a:prstGeom prst="roundRect">
            <a:avLst>
              <a:gd name="adj" fmla="val 15694"/>
            </a:avLst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84150" y="1660178"/>
            <a:ext cx="183941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总数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84150" y="1837879"/>
            <a:ext cx="183941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1,280+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2282279"/>
            <a:ext cx="2057251" cy="647402"/>
          </a:xfrm>
          <a:prstGeom prst="roundRect">
            <a:avLst>
              <a:gd name="adj" fmla="val 15694"/>
            </a:avLst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84150" y="2383780"/>
            <a:ext cx="183941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测试用例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84150" y="2561481"/>
            <a:ext cx="183941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3,500+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3005882"/>
            <a:ext cx="2057251" cy="647402"/>
          </a:xfrm>
          <a:prstGeom prst="roundRect">
            <a:avLst>
              <a:gd name="adj" fmla="val 15694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84150" y="3107382"/>
            <a:ext cx="183941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通过率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84150" y="3285083"/>
            <a:ext cx="183941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96.5%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" y="3729484"/>
            <a:ext cx="2057251" cy="647402"/>
          </a:xfrm>
          <a:prstGeom prst="roundRect">
            <a:avLst>
              <a:gd name="adj" fmla="val 15694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84150" y="3830985"/>
            <a:ext cx="183941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执行次数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84150" y="4008686"/>
            <a:ext cx="183941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12,000+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548188" y="1193602"/>
            <a:ext cx="422138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报告能力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48188" y="1558677"/>
            <a:ext cx="4138613" cy="596801"/>
          </a:xfrm>
          <a:prstGeom prst="roundRect">
            <a:avLst>
              <a:gd name="adj" fmla="val 12768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700588" y="1672977"/>
            <a:ext cx="391048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执行历史追溯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00588" y="1888778"/>
            <a:ext cx="391048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完整记录每次执行的详细信息和日志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48188" y="2244328"/>
            <a:ext cx="4138613" cy="596801"/>
          </a:xfrm>
          <a:prstGeom prst="roundRect">
            <a:avLst>
              <a:gd name="adj" fmla="val 12768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700588" y="2358628"/>
            <a:ext cx="391048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详细步骤日志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00588" y="2574429"/>
            <a:ext cx="391048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请求/响应/断言结果逐步展示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48188" y="2929979"/>
            <a:ext cx="4138613" cy="596801"/>
          </a:xfrm>
          <a:prstGeom prst="roundRect">
            <a:avLst>
              <a:gd name="adj" fmla="val 12768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700588" y="3044279"/>
            <a:ext cx="391048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可视化图表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00588" y="3260080"/>
            <a:ext cx="391048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 Recharts 的趋势分析和统计图表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48188" y="3615630"/>
            <a:ext cx="4138613" cy="596801"/>
          </a:xfrm>
          <a:prstGeom prst="roundRect">
            <a:avLst>
              <a:gd name="adj" fmla="val 12768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700588" y="3729930"/>
            <a:ext cx="391048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多维度筛选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00588" y="3945731"/>
            <a:ext cx="391048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按套件/时间/状态/用例灵活筛选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540502" y="4908649"/>
            <a:ext cx="3565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88802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03150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0EA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56008" y="298400"/>
            <a:ext cx="25943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66800" y="246013"/>
            <a:ext cx="113990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应用实践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066502"/>
            <a:ext cx="83941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端到端测试流程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29035" y="1412528"/>
            <a:ext cx="770483" cy="364927"/>
          </a:xfrm>
          <a:prstGeom prst="roundRect">
            <a:avLst>
              <a:gd name="adj" fmla="val 20881"/>
            </a:avLst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476778" y="1514029"/>
            <a:ext cx="47499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API采集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175718" y="1475929"/>
            <a:ext cx="20736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455218" y="1412528"/>
            <a:ext cx="812750" cy="364927"/>
          </a:xfrm>
          <a:prstGeom prst="roundRect">
            <a:avLst>
              <a:gd name="adj" fmla="val 20881"/>
            </a:avLst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602538" y="1514029"/>
            <a:ext cx="51810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入库管理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44168" y="1475929"/>
            <a:ext cx="20736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23667" y="1412528"/>
            <a:ext cx="685800" cy="364927"/>
          </a:xfrm>
          <a:prstGeom prst="roundRect">
            <a:avLst>
              <a:gd name="adj" fmla="val 20881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772257" y="1514029"/>
            <a:ext cx="38862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AI生成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85667" y="1475929"/>
            <a:ext cx="20736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65166" y="1412528"/>
            <a:ext cx="812750" cy="364927"/>
          </a:xfrm>
          <a:prstGeom prst="roundRect">
            <a:avLst>
              <a:gd name="adj" fmla="val 20881"/>
            </a:avLst>
          </a:prstGeom>
          <a:solidFill>
            <a:srgbClr val="0EA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812487" y="1514029"/>
            <a:ext cx="51810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用例编排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54117" y="1475929"/>
            <a:ext cx="20736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833616" y="1412528"/>
            <a:ext cx="812750" cy="364927"/>
          </a:xfrm>
          <a:prstGeom prst="roundRect">
            <a:avLst>
              <a:gd name="adj" fmla="val 20881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980937" y="1514029"/>
            <a:ext cx="51810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套件执行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722566" y="1475929"/>
            <a:ext cx="20736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02066" y="1412528"/>
            <a:ext cx="812750" cy="364927"/>
          </a:xfrm>
          <a:prstGeom prst="roundRect">
            <a:avLst>
              <a:gd name="adj" fmla="val 20881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149386" y="1514029"/>
            <a:ext cx="51810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测试报告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1980605"/>
            <a:ext cx="2624733" cy="939105"/>
          </a:xfrm>
          <a:prstGeom prst="roundRect">
            <a:avLst>
              <a:gd name="adj" fmla="val 10819"/>
            </a:avLst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57200" y="1999655"/>
            <a:ext cx="2624733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9600" y="2171105"/>
            <a:ext cx="236633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场景一：接口回归测试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09600" y="2447330"/>
            <a:ext cx="236633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每日定时执行核心业务接口回归套件,第一时间发现接口异常,保障线上服务稳定性。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259634" y="1980605"/>
            <a:ext cx="2624733" cy="939105"/>
          </a:xfrm>
          <a:prstGeom prst="roundRect">
            <a:avLst>
              <a:gd name="adj" fmla="val 10819"/>
            </a:avLst>
          </a:prstGeom>
          <a:solidFill>
            <a:srgbClr val="F0FD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3259634" y="1999655"/>
            <a:ext cx="2624733" cy="0"/>
          </a:xfrm>
          <a:prstGeom prst="line">
            <a:avLst/>
          </a:prstGeom>
          <a:noFill/>
          <a:ln w="381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12034" y="2171105"/>
            <a:ext cx="236633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场景二：新功能联调验证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412034" y="2447330"/>
            <a:ext cx="236633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通过HAR录制快速采集新接口,AI生成测试用例,验证新功能API的正确性和完整性。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062067" y="1980605"/>
            <a:ext cx="2624733" cy="939105"/>
          </a:xfrm>
          <a:prstGeom prst="roundRect">
            <a:avLst>
              <a:gd name="adj" fmla="val 10819"/>
            </a:avLst>
          </a:prstGeom>
          <a:solidFill>
            <a:srgbClr val="FFFB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6062067" y="1999655"/>
            <a:ext cx="2624733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14467" y="2171105"/>
            <a:ext cx="236633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场景三：跨系统集成测试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214467" y="2447330"/>
            <a:ext cx="236633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利用四层分类管理多系统API资产,编排跨系统业务流程用例,验证系统间接口交互。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540502" y="4908649"/>
            <a:ext cx="3565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88802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03150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0EA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56008" y="298400"/>
            <a:ext cx="25943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66800" y="246013"/>
            <a:ext cx="570027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成效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74904" y="1142702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关键指标提升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349" y="1558528"/>
            <a:ext cx="1924050" cy="1291977"/>
          </a:xfrm>
          <a:prstGeom prst="roundRect">
            <a:avLst>
              <a:gd name="adj" fmla="val 983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57349" y="1577578"/>
            <a:ext cx="192405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76636" y="1558528"/>
            <a:ext cx="0" cy="1291977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349" y="2845743"/>
            <a:ext cx="192405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2111" y="1558528"/>
            <a:ext cx="0" cy="1291977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451" y="1799779"/>
            <a:ext cx="937698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953030" y="2260104"/>
            <a:ext cx="93268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用例编写效率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14511" y="2485430"/>
            <a:ext cx="80972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AI辅助自动生成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559100" y="1558528"/>
            <a:ext cx="1924050" cy="1291977"/>
          </a:xfrm>
          <a:prstGeom prst="roundRect">
            <a:avLst>
              <a:gd name="adj" fmla="val 983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2559100" y="1577578"/>
            <a:ext cx="1924050" cy="0"/>
          </a:xfrm>
          <a:prstGeom prst="line">
            <a:avLst/>
          </a:prstGeom>
          <a:noFill/>
          <a:ln w="381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78387" y="1558528"/>
            <a:ext cx="0" cy="1291977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9100" y="2845743"/>
            <a:ext cx="192405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63862" y="1558528"/>
            <a:ext cx="0" cy="1291977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52201" y="1799779"/>
            <a:ext cx="937698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60%+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3054781" y="2260104"/>
            <a:ext cx="93268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回归执行时间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113074" y="2485430"/>
            <a:ext cx="81610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自动化替代手工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60850" y="1558528"/>
            <a:ext cx="1924050" cy="1291977"/>
          </a:xfrm>
          <a:prstGeom prst="roundRect">
            <a:avLst>
              <a:gd name="adj" fmla="val 983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660850" y="1577578"/>
            <a:ext cx="1924050" cy="0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0138" y="1558528"/>
            <a:ext cx="0" cy="1291977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0850" y="2845743"/>
            <a:ext cx="192405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5613" y="1558528"/>
            <a:ext cx="0" cy="1291977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53952" y="1799779"/>
            <a:ext cx="937698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95%+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5234255" y="2260104"/>
            <a:ext cx="7772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接口覆盖率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214824" y="2485430"/>
            <a:ext cx="81610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系统化管理提升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762601" y="1558528"/>
            <a:ext cx="1924050" cy="1291977"/>
          </a:xfrm>
          <a:prstGeom prst="roundRect">
            <a:avLst>
              <a:gd name="adj" fmla="val 983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6762601" y="1577578"/>
            <a:ext cx="192405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681889" y="1558528"/>
            <a:ext cx="0" cy="1291977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762601" y="2845743"/>
            <a:ext cx="192405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7364" y="1558528"/>
            <a:ext cx="0" cy="1291977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55703" y="1799779"/>
            <a:ext cx="937698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40%+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7336006" y="2260104"/>
            <a:ext cx="7772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缺陷发现率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374868" y="2485430"/>
            <a:ext cx="69951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智能用例补充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57200" y="3079105"/>
            <a:ext cx="4025950" cy="1162050"/>
          </a:xfrm>
          <a:prstGeom prst="roundRect">
            <a:avLst>
              <a:gd name="adj" fmla="val 874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19125" y="3241030"/>
            <a:ext cx="37761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质量提升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19125" y="3517255"/>
            <a:ext cx="3702100" cy="561975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96826" y="3526780"/>
            <a:ext cx="359488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API资产统一管理,避免信息孤岛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96826" y="3726805"/>
            <a:ext cx="359488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AI智能补充边界用例,减少人工遗漏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96826" y="3926830"/>
            <a:ext cx="359488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可视化编排降低技术门槛,全员可参与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660850" y="3079105"/>
            <a:ext cx="4025950" cy="1162050"/>
          </a:xfrm>
          <a:prstGeom prst="roundRect">
            <a:avLst>
              <a:gd name="adj" fmla="val 874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4822775" y="3241030"/>
            <a:ext cx="37761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效率提升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822775" y="3517255"/>
            <a:ext cx="3702100" cy="561975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000476" y="3526780"/>
            <a:ext cx="359488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定时回归执行,无人值守持续验证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000476" y="3726805"/>
            <a:ext cx="359488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从采集到报告的完整闭环,流程提效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000476" y="3926830"/>
            <a:ext cx="359488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团队协作共享测试资产,消除重复劳动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8540502" y="4908649"/>
            <a:ext cx="3565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71643" y="1727299"/>
            <a:ext cx="2600566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157423" y="2435275"/>
            <a:ext cx="82900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感谢聆听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063901" y="2965400"/>
            <a:ext cx="1015901" cy="25301"/>
          </a:xfrm>
          <a:prstGeom prst="roundRect">
            <a:avLst>
              <a:gd name="adj" fmla="val 100391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407749" y="3244602"/>
            <a:ext cx="32835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API智能测试平台应用实践分享</dc:title>
  <dc:subject>PptxGenJS Presentation</dc:subject>
  <dc:creator>API Testing Team</dc:creator>
  <cp:lastModifiedBy>API Testing Team</cp:lastModifiedBy>
  <cp:revision>1</cp:revision>
  <dcterms:created xsi:type="dcterms:W3CDTF">2026-03-05T03:06:29Z</dcterms:created>
  <dcterms:modified xsi:type="dcterms:W3CDTF">2026-03-05T03:06:29Z</dcterms:modified>
</cp:coreProperties>
</file>